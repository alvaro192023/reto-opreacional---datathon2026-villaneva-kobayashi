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3508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SUNASS 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Operacional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Limpieza, consolidación y optimización operativa</a:t>
            </a:r>
            <a:endParaRPr lang="en-US" sz="2200" dirty="0"/>
          </a:p>
          <a:p>
            <a:pPr marL="0" indent="0">
              <a:buNone/>
            </a:pPr>
            <a:r>
              <a:rPr lang="en-US" sz="2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la red de Lima Metropolitana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4297680"/>
            <a:ext cx="91440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SSA07: Álvaro Fabricio Villanueva Kobayashi –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Calleb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Mishell Lazarte Jimenez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 28/04/2026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ejecutiva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SUNASS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SSA07 · Lima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reto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desafíos integrados sobre la operación de la red de agua potable en Lima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Operacional · 2025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178308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8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594360" y="1783080"/>
            <a:ext cx="109728" cy="21945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datos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y corregir inconsistencias en sectores, coordenadas geográficas y caudales atípicos.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78308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8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109728" cy="2194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6720840" y="2011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20840" y="2331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Consolidación operativa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2084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indicadores normalizados por sector y agruparlos por similitud para priorizar la operación.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411480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8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594360" y="4114800"/>
            <a:ext cx="109728" cy="2194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914400" y="4343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4663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de cuadrillas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52120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Distribuir las fugas reportadas durante 4 días entre tres cuadrillas según criterio de cercanía.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8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Shape 22"/>
          <p:cNvSpPr/>
          <p:nvPr/>
        </p:nvSpPr>
        <p:spPr>
          <a:xfrm>
            <a:off x="6400800" y="4114800"/>
            <a:ext cx="109728" cy="21945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6720840" y="4343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20840" y="4663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Senda óptima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720840" y="52120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Determinar la ruta de menor recorrido que cada cuadrilla debe seguir para atender sus fugas.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SUNASS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SSA07 · Lima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1 · Calidad de datos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tipos de inconsistencias detectadas y corregidas en las bases sintéticas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Operacional · 2025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320040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303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731520" y="3224174"/>
            <a:ext cx="320040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Sobreregistros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665830"/>
            <a:ext cx="3200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+ categoría + fecha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0" y="192024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4480560" y="2057400"/>
            <a:ext cx="320040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5,554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480560" y="3224174"/>
            <a:ext cx="320040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 invertidas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0560" y="3665830"/>
            <a:ext cx="3200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 y longitud intercambiadas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138160" y="192024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8229600" y="2057400"/>
            <a:ext cx="320040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8229600" y="3224174"/>
            <a:ext cx="320040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Caudales atípicos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3665830"/>
            <a:ext cx="3200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50 sectores · criterio Q3+1.5·IQR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448056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F8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914400" y="45720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 hizo con cada inconsistencia?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489204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Sectores normalizados: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1 791 variantes (S-09, s9, S 09, S009) → 400 sectores canónicos S1…S400.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Deduplicación: 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mantuvo el primer registro de cada grupo (conexión, categoría, fecha de registro).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Coordenadas: 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intercambio de latitud y longitud cuando lat&lt;−50 y long&gt;−50 (Lima ≈ −12, −77).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Caudales: 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&gt; 294,3 l/s divididos entre 10 (error de escala probable) y promedio anual recalculado.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SUNASS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SSA07 · Lima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espacial de inconsistencias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inconsistencias se distribuyen por toda la ciudad y no se concentran en sectores específicos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Operacional · 2025</a:t>
            </a:r>
            <a:endParaRPr lang="en-US" sz="900" dirty="0"/>
          </a:p>
        </p:txBody>
      </p:sp>
      <p:pic>
        <p:nvPicPr>
          <p:cNvPr id="8" name="Image 0" descr="/home/claude/proyecto/output/figs/fig1_inconsistencia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691640"/>
            <a:ext cx="11247120" cy="42062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Hallazgo: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10 % de los registros operativos llegó con coordenadas latitud/longitud intercambiadas.</a:t>
            </a: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Esto sugiere un error sistemático en el formulario de captura, no un error humano puntual.</a:t>
            </a:r>
            <a:endParaRPr lang="en-US" sz="12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F5D0216-E953-A005-25A2-82DDD358C297}"/>
              </a:ext>
            </a:extLst>
          </p:cNvPr>
          <p:cNvSpPr/>
          <p:nvPr/>
        </p:nvSpPr>
        <p:spPr>
          <a:xfrm>
            <a:off x="9601200" y="2103120"/>
            <a:ext cx="1826933" cy="43480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s-PE" sz="1050" dirty="0"/>
              <a:t>Sectores normales(350)</a:t>
            </a:r>
          </a:p>
          <a:p>
            <a:pPr algn="r"/>
            <a:r>
              <a:rPr lang="es-PE" sz="1050" dirty="0"/>
              <a:t>Sectores con </a:t>
            </a:r>
            <a:r>
              <a:rPr lang="es-PE" sz="1050" dirty="0" err="1"/>
              <a:t>outliers</a:t>
            </a:r>
            <a:r>
              <a:rPr lang="es-PE" sz="1050" dirty="0"/>
              <a:t>(50)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24F444C3-E78A-72D9-2025-913DF03783A8}"/>
              </a:ext>
            </a:extLst>
          </p:cNvPr>
          <p:cNvSpPr/>
          <p:nvPr/>
        </p:nvSpPr>
        <p:spPr>
          <a:xfrm>
            <a:off x="9744891" y="2333119"/>
            <a:ext cx="130629" cy="13716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1E129B41-AB64-181B-F826-8CE09DEE2CAB}"/>
              </a:ext>
            </a:extLst>
          </p:cNvPr>
          <p:cNvSpPr/>
          <p:nvPr/>
        </p:nvSpPr>
        <p:spPr>
          <a:xfrm>
            <a:off x="9744890" y="2163769"/>
            <a:ext cx="130629" cy="13716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SUNASS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SSA07 · Lima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usuarios y sectores críticos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de caudal e incidencias: el 80 % del problema vive en menos del 20 % de los sectores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Operacional · 2025</a:t>
            </a:r>
            <a:endParaRPr lang="en-US" sz="900" dirty="0"/>
          </a:p>
        </p:txBody>
      </p:sp>
      <p:pic>
        <p:nvPicPr>
          <p:cNvPr id="8" name="Image 0" descr="/home/claude/proyecto/output/figs/fig2_grandes_usuario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691640"/>
            <a:ext cx="11247120" cy="42062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clave: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sectores S70, S7, S203, S107 y S394 lideran en roturas de red primaria; S70, S61, S57, S7 y S50 en fugas de red secundaria. S70 y S7 aparecen en ambos rankings — señal clara de infraestructura troncal envejecida.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SUNASS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SSA07 · Lima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2 · Consolidación por sector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normalizados y top sectores que requieren intervención prioritaria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Operacional · 2025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69164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F8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182880" y="17647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7432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Sectores analizados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69164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F8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3200400" y="17647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60.3 h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9184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prom. reparación rotura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F8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6217920" y="17647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 h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0936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prom. reparación fuga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235440" y="169164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F8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9235440" y="17647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≈ 0.89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32688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roturas/km vs fugas/conex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2971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sectores por roturas de red primaria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383280"/>
          <a:ext cx="5394960" cy="284988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Roturas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263640" y="2971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sectores por fugas de red secundaria</a:t>
            </a:r>
            <a:endParaRPr lang="en-US" sz="14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3383280"/>
          <a:ext cx="5394960" cy="284988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Fugas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SUNASS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SSA07 · Lima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por medias (K-Means)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óptimo = 2 (silhouette = 0.789) · Dos perfiles operativos diferenciados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Operacional · 2025</a:t>
            </a:r>
            <a:endParaRPr lang="en-US" sz="900" dirty="0"/>
          </a:p>
        </p:txBody>
      </p:sp>
      <p:pic>
        <p:nvPicPr>
          <p:cNvPr id="8" name="Image 0" descr="/home/claude/proyecto/output/figs/fig5_cluster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691640"/>
            <a:ext cx="11247120" cy="4023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(crítico):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sectores con muy alta densidad de roturas (≈ 4,3 / km) y fugas (≈ 597 / 1 000 conexiones).</a:t>
            </a: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C2 (estable):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389 sectores con perfil operativo regular (roturas/km ≈ 0,3 · fugas/1 000 ≈ 34).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 cluster C1 concentra la mayor parte del riesgo operativo: priorizar inversión y monitoreo en este grupo.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SUNASS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SSA07 · Lima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3 · Asignación de cuadrillas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542 fugas distribuidas entre 3 cuadrillas durante los días 24–27 abril 2025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Operacional · 2025</a:t>
            </a:r>
            <a:endParaRPr lang="en-US" sz="900" dirty="0"/>
          </a:p>
        </p:txBody>
      </p:sp>
      <p:pic>
        <p:nvPicPr>
          <p:cNvPr id="8" name="Image 0" descr="/home/claude/proyecto/output/figs/fig3_cuadrilla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691640"/>
            <a:ext cx="7498080" cy="4754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9244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total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092440" y="2194560"/>
            <a:ext cx="36576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8"/>
          <p:cNvSpPr/>
          <p:nvPr/>
        </p:nvSpPr>
        <p:spPr>
          <a:xfrm>
            <a:off x="8275320" y="2441448"/>
            <a:ext cx="329184" cy="329184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9"/>
          <p:cNvSpPr/>
          <p:nvPr/>
        </p:nvSpPr>
        <p:spPr>
          <a:xfrm>
            <a:off x="8275320" y="2441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73252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Cuadrilla 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732520" y="25786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propio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378440" y="22860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8092440" y="3154680"/>
            <a:ext cx="36576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Shape 14"/>
          <p:cNvSpPr/>
          <p:nvPr/>
        </p:nvSpPr>
        <p:spPr>
          <a:xfrm>
            <a:off x="8275320" y="3401568"/>
            <a:ext cx="329184" cy="329184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5"/>
          <p:cNvSpPr/>
          <p:nvPr/>
        </p:nvSpPr>
        <p:spPr>
          <a:xfrm>
            <a:off x="8275320" y="3401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732520" y="3246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Cuadrilla 2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732520" y="3538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propio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378440" y="32461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</a:t>
            </a:r>
            <a:endParaRPr lang="en-US" sz="2800" dirty="0"/>
          </a:p>
        </p:txBody>
      </p:sp>
      <p:sp>
        <p:nvSpPr>
          <p:cNvPr id="22" name="Shape 19"/>
          <p:cNvSpPr/>
          <p:nvPr/>
        </p:nvSpPr>
        <p:spPr>
          <a:xfrm>
            <a:off x="8092440" y="4114800"/>
            <a:ext cx="36576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Shape 20"/>
          <p:cNvSpPr/>
          <p:nvPr/>
        </p:nvSpPr>
        <p:spPr>
          <a:xfrm>
            <a:off x="8275320" y="4361688"/>
            <a:ext cx="329184" cy="32918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1"/>
          <p:cNvSpPr/>
          <p:nvPr/>
        </p:nvSpPr>
        <p:spPr>
          <a:xfrm>
            <a:off x="8275320" y="4361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732520" y="4206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Cuadrilla 3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732520" y="44988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propio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0378440" y="42062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8092440" y="4917233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día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183880" y="5212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24/04 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 fugas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183880" y="5486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25/04 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 fugas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183880" y="5760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26/04 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 fugas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183880" y="6035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27/04 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 fugas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SUNASS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SSA07 · Lima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4 · Senda óptima por cuadrilla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cerrada que minimiza la distancia total — Heurística Nearest-Neighbor + refinamiento 2-opt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Operacional · 2025</a:t>
            </a:r>
            <a:endParaRPr lang="en-US" sz="900" dirty="0"/>
          </a:p>
        </p:txBody>
      </p:sp>
      <p:pic>
        <p:nvPicPr>
          <p:cNvPr id="8" name="Image 0" descr="/home/claude/proyecto/output/figs/fig4_senda_optim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691640"/>
            <a:ext cx="11430000" cy="4114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852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mostrado: 24/04/2025 (los demás siguen el mismo procedimiento)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Lectura: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cuadrilla parte de su origen, atiende sus fugas asignadas siguiendo la ruta de menor distancia y regresa al punto de partida. La distancia total ronda 1,0–1,6 grados euclidianos por jornada.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SUNASS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SSA07 · Lima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interpretativo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significan estos hallazgos para la gestión comercial de la EPS?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Operacional · 2025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178308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198424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calidad del dato comercial es estructuralmente débil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560320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10 % de los registros llegó con coordenadas invertidas y existen sobreregistros y outliers de caudal. Esto distorsiona indicadores de continuidad, micromedición y facturación si no se corrige antes de cualquier análisis posterior.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78308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6355080" y="201168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63550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95160" y="198424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un Pareto operativo claro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2560320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Aproximadamente el 5–10 % de los sectores concentran la mayor parte de las roturas y fugas. La estrategia comercial debe diferenciar entre estos sectores críticos y la mayoría que opera dentro de la norma.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411480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822960" y="434340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82296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431596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Roturas de matriz y fugas en acometidas se mueven juntas (ρ ≈ 0,89)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4892040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red troncal envejece, también se degradan las acometidas comerciales. Atender solo uno de los dos frentes deja problemas pendientes; las inversiones deben ser combinadas.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411480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Shape 22"/>
          <p:cNvSpPr/>
          <p:nvPr/>
        </p:nvSpPr>
        <p:spPr>
          <a:xfrm>
            <a:off x="6355080" y="434340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635508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95160" y="431596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cuadrillas por simple distancia ya genera carga desigual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4892040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absorbe ~13 % más fugas que C3 con la regla del más cercano. Sin un balanceo activo, las cuadrillas con sectores densos quedarán saturadas mientras otras tienen capacidad ociosa.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SUNASS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SSA07 · Lima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accionables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recomendaciones concretas basadas en los resultados del análisis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Operacional · 2025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178308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198424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Renovación focalizada en los 10 sectores top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560320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inversión en S70, S7, S203, S107, S394, S61, S57, S50 y vecinos. Concentran la mayor parte de roturas y fugas, por lo que el ROI por sol invertido es máximo (regla 80/20).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78308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6355080" y="201168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63550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95160" y="198424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coordenadas en el formulario de captura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2560320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una regla simple en el sistema de registro: si los valores ingresados quedan fuera del rango de Lima (lat ∈ [-12,5; -11,7] · long ∈ [-77,2; -76,7]), advertir al operador y exigir confirmación. Detener el error en origen evita arrastrarlo al análisis.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411480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822960" y="434340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82296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431596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macromedidores con caudales atípicos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4892040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físicamente los 50 sectores con valores &gt;294 l/s. Probable falla de escala (factor ×10) en el aparato de medición o en la captura — afecta directamente la facturación y la gestión de pérdidas.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411480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Shape 22"/>
          <p:cNvSpPr/>
          <p:nvPr/>
        </p:nvSpPr>
        <p:spPr>
          <a:xfrm>
            <a:off x="6355080" y="434340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635508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95160" y="431596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Balanceo dinámico de cuadrillas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4892040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de la regla 'más cercano' a una asignación con tope diario (p. ej. ±10 % de la carga promedio). Igualar la carga reduce horas extra y tiempos de respuesta percibidos por el usuario.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final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limpios, decisiones claras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operación comercial de Lima tiene un problema localizado y corregible. Los hallazgos identifican exactamente dónde, cuánto y cómo intervenir.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1F355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303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4754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duplicados eliminados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402336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1F355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3474720" y="4114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5 554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611880" y="4754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 corregidas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402336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1F355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217920" y="4114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55080" y="4754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de caudal saneados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61120" y="402336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1F355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8961120" y="4114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542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9098280" y="4754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fugas atendidas en 4 días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5760720"/>
            <a:ext cx="91440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SSA07 · Lima · Datathon SUNASS 2026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63093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Entregables: solucion_lima_SSA07.xlsx · solucion_lima_SSA07.ipynb · presentacion_lima_SSA07.pptx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1399</Words>
  <Application>Microsoft Office PowerPoint</Application>
  <PresentationFormat>Panorámica</PresentationFormat>
  <Paragraphs>248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SSA07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Datathon SUNASS 2026 - Reto Operacional - Lima</dc:title>
  <dc:subject>PptxGenJS Presentation</dc:subject>
  <dc:creator>Equipo SSA07</dc:creator>
  <cp:lastModifiedBy>paf@iyuuh.onmicrosoft.com</cp:lastModifiedBy>
  <cp:revision>2</cp:revision>
  <dcterms:created xsi:type="dcterms:W3CDTF">2026-04-28T20:14:37Z</dcterms:created>
  <dcterms:modified xsi:type="dcterms:W3CDTF">2026-04-28T21:45:12Z</dcterms:modified>
</cp:coreProperties>
</file>